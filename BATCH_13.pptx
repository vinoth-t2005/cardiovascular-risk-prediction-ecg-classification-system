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59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73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</p:sldIdLst>
  <p:sldSz cx="12192000" cy="6858000"/>
  <p:notesSz cx="6858000" cy="9144000"/>
  <p:embeddedFontLst>
    <p:embeddedFont>
      <p:font typeface="Arial Narrow" panose="020B0606020202030204" pitchFamily="34" charset="0"/>
      <p:regular r:id="rId21"/>
      <p:bold r:id="rId22"/>
      <p:italic r:id="rId23"/>
      <p:boldItalic r:id="rId2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B0D3315C-5BBF-4F93-85FC-E1C3DE0A209C}">
  <a:tblStyle styleId="{B0D3315C-5BBF-4F93-85FC-E1C3DE0A209C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BF1E8"/>
          </a:solidFill>
        </a:fill>
      </a:tcStyle>
    </a:wholeTbl>
    <a:band1H>
      <a:tcTxStyle b="off" i="off"/>
      <a:tcStyle>
        <a:tcBdr/>
        <a:fill>
          <a:solidFill>
            <a:srgbClr val="D4E2CE"/>
          </a:solidFill>
        </a:fill>
      </a:tcStyle>
    </a:band1H>
    <a:band2H>
      <a:tcTxStyle b="off" i="off"/>
      <a:tcStyle>
        <a:tcBdr/>
      </a:tcStyle>
    </a:band2H>
    <a:band1V>
      <a:tcTxStyle b="off" i="off"/>
      <a:tcStyle>
        <a:tcBdr/>
        <a:fill>
          <a:solidFill>
            <a:srgbClr val="D4E2CE"/>
          </a:solidFill>
        </a:fill>
      </a:tcStyle>
    </a:band1V>
    <a:band2V>
      <a:tcTxStyle b="off" i="off"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6"/>
          </a:solidFill>
        </a:fill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6"/>
          </a:solidFill>
        </a:fill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90" d="100"/>
          <a:sy n="90" d="100"/>
        </p:scale>
        <p:origin x="370" y="11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font" Target="fonts/font1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86" name="Google Shape;86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3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2" name="Google Shape;102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4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09" name="Google Shape;109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">
          <a:extLst>
            <a:ext uri="{FF2B5EF4-FFF2-40B4-BE49-F238E27FC236}">
              <a16:creationId xmlns:a16="http://schemas.microsoft.com/office/drawing/2014/main" id="{5E258D69-850E-CDDB-C342-40B3382B8D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5:notes">
            <a:extLst>
              <a:ext uri="{FF2B5EF4-FFF2-40B4-BE49-F238E27FC236}">
                <a16:creationId xmlns:a16="http://schemas.microsoft.com/office/drawing/2014/main" id="{064A055F-B3C4-5DA9-D2CC-A3DFA7F0069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16" name="Google Shape;116;p5:notes">
            <a:extLst>
              <a:ext uri="{FF2B5EF4-FFF2-40B4-BE49-F238E27FC236}">
                <a16:creationId xmlns:a16="http://schemas.microsoft.com/office/drawing/2014/main" id="{E46BB6F8-F827-70C2-FD68-56EC79F1907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  <p:extLst>
      <p:ext uri="{BB962C8B-B14F-4D97-AF65-F5344CB8AC3E}">
        <p14:creationId xmlns:p14="http://schemas.microsoft.com/office/powerpoint/2010/main" val="15638790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24" name="Google Shape;124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0" name="Google Shape;130;p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37" name="Google Shape;137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8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43" name="Google Shape;143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1" name="Google Shape;151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58" name="Google Shape;158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d29cd15bd2_0_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68" name="Google Shape;168;g3d29cd15bd2_0_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d29cd15bd2_0_1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78" name="Google Shape;178;g3d29cd15bd2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7" name="Google Shape;187;g3d29cd15bd2_0_2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88" name="Google Shape;188;g3d29cd15bd2_0_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g3d29cd15bd2_0_29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198" name="Google Shape;198;g3d29cd15bd2_0_29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16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08" name="Google Shape;208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endParaRPr/>
          </a:p>
        </p:txBody>
      </p:sp>
      <p:sp>
        <p:nvSpPr>
          <p:cNvPr id="215" name="Google Shape;215;p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18" name="Google Shape;18;p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3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mparison" type="twoTxTwoObj">
  <p:cSld name="TWO_OBJECTS_WITH_TEXT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 txBox="1"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4"/>
          <p:cNvSpPr txBox="1"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28" name="Google Shape;28;p4"/>
          <p:cNvSpPr txBox="1">
            <a:spLocks noGrp="1"/>
          </p:cNvSpPr>
          <p:nvPr>
            <p:ph type="body" idx="2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29" name="Google Shape;29;p4"/>
          <p:cNvSpPr txBox="1">
            <a:spLocks noGrp="1"/>
          </p:cNvSpPr>
          <p:nvPr>
            <p:ph type="body" idx="3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 b="1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 b="1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 b="1"/>
            </a:lvl9pPr>
          </a:lstStyle>
          <a:p>
            <a:endParaRPr/>
          </a:p>
        </p:txBody>
      </p:sp>
      <p:sp>
        <p:nvSpPr>
          <p:cNvPr id="30" name="Google Shape;30;p4"/>
          <p:cNvSpPr txBox="1">
            <a:spLocks noGrp="1"/>
          </p:cNvSpPr>
          <p:nvPr>
            <p:ph type="body" idx="4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31" name="Google Shape;31;p4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3" name="Google Shape;33;p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5"/>
          <p:cNvSpPr txBox="1"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5"/>
          <p:cNvSpPr txBox="1"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>
            <a:endParaRPr/>
          </a:p>
        </p:txBody>
      </p:sp>
      <p:sp>
        <p:nvSpPr>
          <p:cNvPr id="37" name="Google Shape;37;p5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5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6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2" name="Google Shape;42;p6"/>
          <p:cNvSpPr txBox="1"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>
            <a:endParaRPr/>
          </a:p>
        </p:txBody>
      </p:sp>
      <p:sp>
        <p:nvSpPr>
          <p:cNvPr id="43" name="Google Shape;43;p6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6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5" name="Google Shape;45;p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 type="twoObj">
  <p:cSld name="TWO_OBJECTS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7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8" name="Google Shape;48;p7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49" name="Google Shape;49;p7"/>
          <p:cNvSpPr txBox="1">
            <a:spLocks noGrp="1"/>
          </p:cNvSpPr>
          <p:nvPr>
            <p:ph type="body" idx="2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50" name="Google Shape;50;p7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1" name="Google Shape;51;p7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" name="Google Shape;52;p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8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5" name="Google Shape;55;p8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6" name="Google Shape;56;p8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7" name="Google Shape;57;p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ontent with Caption" type="objTx">
  <p:cSld name="OBJECT_WITH_CAPTION_TEXT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9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0" name="Google Shape;60;p9"/>
          <p:cNvSpPr txBox="1">
            <a:spLocks noGrp="1"/>
          </p:cNvSpPr>
          <p:nvPr>
            <p:ph type="body" idx="1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4318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marL="914400" lvl="1" indent="-406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marL="1371600" lvl="2" indent="-381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marL="1828800" lvl="3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marL="2286000" lvl="4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marL="2743200" lvl="5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marL="3200400" lvl="6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marL="3657600" lvl="7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marL="4114800" lvl="8" indent="-355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>
            <a:endParaRPr/>
          </a:p>
        </p:txBody>
      </p:sp>
      <p:sp>
        <p:nvSpPr>
          <p:cNvPr id="61" name="Google Shape;61;p9"/>
          <p:cNvSpPr txBox="1">
            <a:spLocks noGrp="1"/>
          </p:cNvSpPr>
          <p:nvPr>
            <p:ph type="body" idx="2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2" name="Google Shape;62;p9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3" name="Google Shape;63;p9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4" name="Google Shape;64;p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Picture with Caption" type="picTx">
  <p:cSld name="PICTURE_WITH_CAPTION_TEXT"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0"/>
          <p:cNvSpPr txBox="1"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67" name="Google Shape;67;p10"/>
          <p:cNvSpPr>
            <a:spLocks noGrp="1"/>
          </p:cNvSpPr>
          <p:nvPr>
            <p:ph type="pic" idx="2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</p:sp>
      <p:sp>
        <p:nvSpPr>
          <p:cNvPr id="68" name="Google Shape;68;p10"/>
          <p:cNvSpPr txBox="1">
            <a:spLocks noGrp="1"/>
          </p:cNvSpPr>
          <p:nvPr>
            <p:ph type="body" idx="1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marL="914400" lvl="1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marL="1371600" lvl="2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marL="1828800" lvl="3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marL="2286000" lvl="4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marL="2743200" lvl="5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marL="3200400" lvl="6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marL="3657600" lvl="7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marL="4114800" lvl="8" indent="-228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>
            <a:endParaRPr/>
          </a:p>
        </p:txBody>
      </p:sp>
      <p:sp>
        <p:nvSpPr>
          <p:cNvPr id="69" name="Google Shape;69;p10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0" name="Google Shape;70;p10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1" name="Google Shape;71;p1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Vertical Text" type="vertTx">
  <p:cSld name="VERTICAL_TEXT"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4" name="Google Shape;74;p11"/>
          <p:cNvSpPr txBox="1">
            <a:spLocks noGrp="1"/>
          </p:cNvSpPr>
          <p:nvPr>
            <p:ph type="body" idx="1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75" name="Google Shape;75;p1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6" name="Google Shape;76;p1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77" name="Google Shape;77;p1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Vertical Title and Text" type="vertTitleAndTx">
  <p:cSld name="VERTICAL_TITLE_AND_VERTICAL_TEXT">
    <p:spTree>
      <p:nvGrpSpPr>
        <p:cNvPr id="1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2"/>
          <p:cNvSpPr txBox="1">
            <a:spLocks noGrp="1"/>
          </p:cNvSpPr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0" name="Google Shape;80;p12"/>
          <p:cNvSpPr txBox="1">
            <a:spLocks noGrp="1"/>
          </p:cNvSpPr>
          <p:nvPr>
            <p:ph type="body" idx="1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lvl="0" indent="-3429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marL="914400" lvl="1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marL="1371600" lvl="2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marL="1828800" lvl="3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marL="2286000" lvl="4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marL="2743200" lvl="5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marL="3200400" lvl="6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marL="3657600" lvl="7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marL="4114800" lvl="8" indent="-3429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>
            <a:endParaRPr/>
          </a:p>
        </p:txBody>
      </p:sp>
      <p:sp>
        <p:nvSpPr>
          <p:cNvPr id="81" name="Google Shape;81;p12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2" name="Google Shape;82;p12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83" name="Google Shape;83;p1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"/>
          <p:cNvSpPr txBox="1"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sz="4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1" name="Google Shape;11;p1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>
            <a:lvl1pPr marL="457200" marR="0" lvl="0" indent="-40640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sz="2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3810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sz="24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3556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sz="20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342900" algn="l" rtl="0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1"/>
          <p:cNvSpPr txBox="1">
            <a:spLocks noGrp="1"/>
          </p:cNvSpPr>
          <p:nvPr>
            <p:ph type="dt" idx="10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1"/>
          <p:cNvSpPr txBox="1">
            <a:spLocks noGrp="1"/>
          </p:cNvSpPr>
          <p:nvPr>
            <p:ph type="ftr" idx="11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sz="12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3"/>
          <p:cNvSpPr txBox="1">
            <a:spLocks noGrp="1"/>
          </p:cNvSpPr>
          <p:nvPr>
            <p:ph type="body" idx="1"/>
          </p:nvPr>
        </p:nvSpPr>
        <p:spPr>
          <a:xfrm>
            <a:off x="0" y="2342250"/>
            <a:ext cx="12119100" cy="419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 dirty="0">
                <a:latin typeface="Arial Narrow"/>
                <a:ea typeface="Arial Narrow"/>
                <a:cs typeface="Arial Narrow"/>
                <a:sym typeface="Arial Narrow"/>
              </a:rPr>
              <a:t>DEPARTMENT OF COMPUTER SCIENCE AND ENGINEERING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20CS8504 &amp; PROJECT WORK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SzPts val="3600"/>
              <a:buNone/>
            </a:pPr>
            <a:r>
              <a:rPr lang="en-US" b="1" dirty="0">
                <a:latin typeface="Arial Narrow"/>
                <a:ea typeface="Arial Narrow"/>
                <a:cs typeface="Arial Narrow"/>
                <a:sym typeface="Arial Narrow"/>
              </a:rPr>
              <a:t>END SEMESTER PRACTICAL EXAMINATION- APRIL / MAY - 2026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Batch No : 13</a:t>
            </a:r>
            <a:endParaRPr dirty="0">
              <a:latin typeface="Arial Narrow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Date         : 30/3/2026</a:t>
            </a:r>
            <a:endParaRPr dirty="0"/>
          </a:p>
          <a:p>
            <a:pPr marL="0" lvl="0" indent="0" algn="l" rtl="0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Session   : AN</a:t>
            </a: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89" name="Google Shape;89;p1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1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pic>
        <p:nvPicPr>
          <p:cNvPr id="90" name="Google Shape;90;p13"/>
          <p:cNvPicPr preferRelativeResize="0"/>
          <p:nvPr/>
        </p:nvPicPr>
        <p:blipFill rotWithShape="1">
          <a:blip r:embed="rId3">
            <a:alphaModFix/>
          </a:blip>
          <a:srcRect l="16357" r="14907" b="8148"/>
          <a:stretch/>
        </p:blipFill>
        <p:spPr>
          <a:xfrm>
            <a:off x="11215585" y="65332"/>
            <a:ext cx="903515" cy="511635"/>
          </a:xfrm>
          <a:prstGeom prst="rect">
            <a:avLst/>
          </a:prstGeom>
          <a:noFill/>
          <a:ln>
            <a:noFill/>
          </a:ln>
        </p:spPr>
      </p:pic>
      <p:pic>
        <p:nvPicPr>
          <p:cNvPr id="91" name="Google Shape;91;p13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04932" y="0"/>
            <a:ext cx="5348811" cy="187359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4"/>
          <p:cNvSpPr txBox="1">
            <a:spLocks noGrp="1"/>
          </p:cNvSpPr>
          <p:nvPr>
            <p:ph type="body" idx="1"/>
          </p:nvPr>
        </p:nvSpPr>
        <p:spPr>
          <a:xfrm>
            <a:off x="0" y="0"/>
            <a:ext cx="12119100" cy="79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</a:pPr>
            <a:r>
              <a:rPr lang="en-US" sz="3600" b="1">
                <a:latin typeface="Arial Narrow"/>
                <a:ea typeface="Arial Narrow"/>
                <a:cs typeface="Arial Narrow"/>
                <a:sym typeface="Arial Narrow"/>
              </a:rPr>
              <a:t>TITLE OF THE PROJECT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7" name="Google Shape;97;p1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  <a:latin typeface="Times New Roman"/>
                <a:ea typeface="Times New Roman"/>
                <a:cs typeface="Times New Roman"/>
                <a:sym typeface="Times New Roman"/>
              </a:rPr>
              <a:t>2</a:t>
            </a:fld>
            <a:endParaRPr b="1">
              <a:solidFill>
                <a:schemeClr val="dk1"/>
              </a:solidFill>
              <a:latin typeface="Times New Roman"/>
              <a:ea typeface="Times New Roman"/>
              <a:cs typeface="Times New Roman"/>
              <a:sym typeface="Times New Roman"/>
            </a:endParaRPr>
          </a:p>
        </p:txBody>
      </p:sp>
      <p:sp>
        <p:nvSpPr>
          <p:cNvPr id="98" name="Google Shape;98;p14"/>
          <p:cNvSpPr txBox="1">
            <a:spLocks noGrp="1"/>
          </p:cNvSpPr>
          <p:nvPr>
            <p:ph type="body" idx="1"/>
          </p:nvPr>
        </p:nvSpPr>
        <p:spPr>
          <a:xfrm>
            <a:off x="495817" y="3631450"/>
            <a:ext cx="4309351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Guide Name:</a:t>
            </a:r>
          </a:p>
          <a:p>
            <a:pPr marL="0" lvl="0" indent="0">
              <a:spcBef>
                <a:spcPts val="998"/>
              </a:spcBef>
              <a:buSzPts val="2400"/>
              <a:buNone/>
              <a:defRPr/>
            </a:pPr>
            <a:r>
              <a:rPr lang="en-US" sz="2400" dirty="0">
                <a:latin typeface="Arial Narrow"/>
                <a:ea typeface="Times New Roman"/>
                <a:cs typeface="Times New Roman"/>
              </a:rPr>
              <a:t>Mrs. K. Valli Priyadharshini, M.E,(Ph.D.)</a:t>
            </a:r>
            <a:endParaRPr lang="en-US" sz="2400" dirty="0"/>
          </a:p>
          <a:p>
            <a:pPr marL="0" lvl="0" indent="0">
              <a:spcBef>
                <a:spcPts val="998"/>
              </a:spcBef>
              <a:buSzPts val="2400"/>
              <a:buNone/>
              <a:defRPr/>
            </a:pPr>
            <a:r>
              <a:rPr lang="en-US" sz="2400" dirty="0">
                <a:latin typeface="Arial Narrow"/>
                <a:ea typeface="Times New Roman"/>
                <a:cs typeface="Times New Roman"/>
              </a:rPr>
              <a:t>Assistant Professor</a:t>
            </a:r>
            <a:endParaRPr lang="en-US" sz="2400" dirty="0"/>
          </a:p>
          <a:p>
            <a:pPr marL="0" lvl="0" indent="0">
              <a:spcBef>
                <a:spcPts val="999"/>
              </a:spcBef>
              <a:buSzPts val="2400"/>
              <a:buNone/>
              <a:defRPr/>
            </a:pPr>
            <a:r>
              <a:rPr lang="en-US" sz="2400" dirty="0">
                <a:latin typeface="Arial Narrow"/>
                <a:ea typeface="Times New Roman"/>
                <a:cs typeface="Times New Roman"/>
              </a:rPr>
              <a:t>CSE</a:t>
            </a:r>
            <a:endParaRPr lang="en-US" sz="2400" b="1" dirty="0">
              <a:latin typeface="Arial Narrow"/>
              <a:ea typeface="Arial Narrow"/>
              <a:cs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endParaRPr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99" name="Google Shape;99;p14"/>
          <p:cNvSpPr txBox="1">
            <a:spLocks noGrp="1"/>
          </p:cNvSpPr>
          <p:nvPr>
            <p:ph type="body" idx="1"/>
          </p:nvPr>
        </p:nvSpPr>
        <p:spPr>
          <a:xfrm>
            <a:off x="7386833" y="3631450"/>
            <a:ext cx="4612500" cy="2724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l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rPr lang="en-US" sz="2400" b="1" dirty="0">
                <a:latin typeface="Arial Narrow"/>
                <a:ea typeface="Arial Narrow"/>
                <a:cs typeface="Arial Narrow"/>
                <a:sym typeface="Arial Narrow"/>
              </a:rPr>
              <a:t>Team Members:</a:t>
            </a:r>
          </a:p>
          <a:p>
            <a:pPr marL="0" lvl="0" indent="0">
              <a:spcBef>
                <a:spcPts val="998"/>
              </a:spcBef>
              <a:buSzPts val="2400"/>
              <a:buNone/>
              <a:defRPr/>
            </a:pPr>
            <a:r>
              <a:rPr lang="en-US" sz="2400" dirty="0">
                <a:latin typeface="Arial Narrow"/>
                <a:ea typeface="Times New Roman"/>
                <a:cs typeface="Times New Roman"/>
              </a:rPr>
              <a:t>Seralathan S (811722104136)</a:t>
            </a:r>
            <a:endParaRPr lang="en-US" sz="2400" dirty="0"/>
          </a:p>
          <a:p>
            <a:pPr marL="0" lvl="0" indent="0">
              <a:spcBef>
                <a:spcPts val="998"/>
              </a:spcBef>
              <a:buSzPts val="2400"/>
              <a:buNone/>
              <a:defRPr/>
            </a:pPr>
            <a:r>
              <a:rPr lang="en-US" sz="2400" dirty="0">
                <a:latin typeface="Arial Narrow"/>
                <a:ea typeface="Times New Roman"/>
                <a:cs typeface="Times New Roman"/>
              </a:rPr>
              <a:t>Uma Maheswari M (811722104171)</a:t>
            </a:r>
            <a:endParaRPr lang="en-US" sz="2400" dirty="0"/>
          </a:p>
          <a:p>
            <a:pPr marL="0" lvl="0" indent="0">
              <a:spcBef>
                <a:spcPts val="998"/>
              </a:spcBef>
              <a:buSzPts val="2400"/>
              <a:buNone/>
              <a:defRPr/>
            </a:pPr>
            <a:r>
              <a:rPr lang="en-US" sz="2400" dirty="0">
                <a:latin typeface="Arial Narrow"/>
                <a:ea typeface="Times New Roman"/>
                <a:cs typeface="Times New Roman"/>
              </a:rPr>
              <a:t>Vijay V (811722104182)</a:t>
            </a:r>
            <a:endParaRPr lang="en-US" sz="2400" dirty="0"/>
          </a:p>
          <a:p>
            <a:pPr marL="0" lvl="0" indent="0">
              <a:spcBef>
                <a:spcPts val="999"/>
              </a:spcBef>
              <a:buSzPts val="2400"/>
              <a:buNone/>
              <a:defRPr/>
            </a:pPr>
            <a:r>
              <a:rPr lang="en-US" sz="2400" dirty="0">
                <a:latin typeface="Arial Narrow"/>
                <a:ea typeface="Times New Roman"/>
                <a:cs typeface="Times New Roman"/>
              </a:rPr>
              <a:t>Vinoth T (811722104185)</a:t>
            </a:r>
            <a:endParaRPr sz="2400" b="1" dirty="0">
              <a:latin typeface="Arial Narrow"/>
              <a:ea typeface="Arial Narrow"/>
              <a:cs typeface="Arial Narrow"/>
              <a:sym typeface="Arial Narrow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15"/>
          <p:cNvSpPr txBox="1">
            <a:spLocks noGrp="1"/>
          </p:cNvSpPr>
          <p:nvPr>
            <p:ph type="title"/>
          </p:nvPr>
        </p:nvSpPr>
        <p:spPr>
          <a:xfrm>
            <a:off x="838200" y="0"/>
            <a:ext cx="10515600" cy="94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OBJECTIVE OF THE PROJECT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05" name="Google Shape;105;p15"/>
          <p:cNvSpPr txBox="1">
            <a:spLocks noGrp="1"/>
          </p:cNvSpPr>
          <p:nvPr>
            <p:ph type="body" idx="1"/>
          </p:nvPr>
        </p:nvSpPr>
        <p:spPr>
          <a:xfrm>
            <a:off x="838200" y="2190750"/>
            <a:ext cx="10515600" cy="30315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327936" indent="-327936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To analyze patient medical data for early heart disease detection.</a:t>
            </a:r>
            <a:endParaRPr lang="en-US" dirty="0">
              <a:latin typeface="Arial Narrow" panose="020B0606020202030204" pitchFamily="34" charset="0"/>
            </a:endParaRPr>
          </a:p>
          <a:p>
            <a:pPr marL="327936" indent="-327936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To evaluate key health parameters such as age and cholesterol.</a:t>
            </a:r>
            <a:endParaRPr lang="en-US" dirty="0">
              <a:latin typeface="Arial Narrow" panose="020B0606020202030204" pitchFamily="34" charset="0"/>
            </a:endParaRPr>
          </a:p>
          <a:p>
            <a:pPr marL="327936" indent="-327936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To classify uploaded medical images as normal or abnormal.</a:t>
            </a:r>
            <a:endParaRPr lang="en-US" dirty="0">
              <a:latin typeface="Arial Narrow" panose="020B0606020202030204" pitchFamily="34" charset="0"/>
            </a:endParaRPr>
          </a:p>
          <a:p>
            <a:pPr marL="327936" indent="-327936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To provide clear prediction explanations using Explainable AI.</a:t>
            </a:r>
            <a:endParaRPr lang="en-US" dirty="0">
              <a:latin typeface="Arial Narrow" panose="020B0606020202030204" pitchFamily="34" charset="0"/>
            </a:endParaRPr>
          </a:p>
          <a:p>
            <a:pPr marL="327936" indent="-327936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To visualize prediction results using graphical representations.</a:t>
            </a:r>
            <a:endParaRPr lang="en-US" dirty="0">
              <a:latin typeface="Arial Narrow" panose="020B0606020202030204" pitchFamily="34" charset="0"/>
            </a:endParaRPr>
          </a:p>
          <a:p>
            <a:pPr marL="327936" lvl="0" indent="-327936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2800"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To generate downloadable reports for analysis and monitoring.</a:t>
            </a:r>
            <a:endParaRPr lang="en-US" dirty="0">
              <a:latin typeface="Arial Narrow" panose="020B0606020202030204" pitchFamily="34" charset="0"/>
              <a:ea typeface="Arial Narrow"/>
              <a:cs typeface="Arial Narrow"/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Font typeface="+mj-lt"/>
              <a:buAutoNum type="arabicPeriod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06" name="Google Shape;106;p1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3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1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1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INTRODUCTION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12" name="Google Shape;112;p16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514350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Heart disease is a leading global health problem requiring early detection.</a:t>
            </a: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514350" indent="-514350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Traditional diagnosis relies on manual medical data analysis.</a:t>
            </a: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514350" indent="-514350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Machine learning helps analyze medical data efficiently.</a:t>
            </a: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514350" indent="-514350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Tx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Advanced algorithms improve prediction accuracy.</a:t>
            </a:r>
            <a:endParaRPr lang="en-US" dirty="0">
              <a:solidFill>
                <a:schemeClr val="tx1"/>
              </a:solidFill>
              <a:latin typeface="Arial Narrow" panose="020B0606020202030204" pitchFamily="34" charset="0"/>
            </a:endParaRPr>
          </a:p>
          <a:p>
            <a:pPr marL="514350" lvl="0" indent="-514350" algn="just">
              <a:lnSpc>
                <a:spcPct val="150000"/>
              </a:lnSpc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Such systems support better healthcare decision-making.</a:t>
            </a:r>
            <a:endParaRPr lang="en-US" dirty="0">
              <a:solidFill>
                <a:schemeClr val="tx1"/>
              </a:solidFill>
              <a:latin typeface="Arial Narrow" panose="020B0606020202030204" pitchFamily="34" charset="0"/>
              <a:ea typeface="Arial Narrow"/>
              <a:cs typeface="Arial Narrow"/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13" name="Google Shape;113;p1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4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/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17"/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sz="1400" b="0" i="0" u="none" strike="noStrike" cap="non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17"/>
          <p:cNvGraphicFramePr/>
          <p:nvPr>
            <p:extLst>
              <p:ext uri="{D42A27DB-BD31-4B8C-83A1-F6EECF244321}">
                <p14:modId xmlns:p14="http://schemas.microsoft.com/office/powerpoint/2010/main" val="3509998883"/>
              </p:ext>
            </p:extLst>
          </p:nvPr>
        </p:nvGraphicFramePr>
        <p:xfrm>
          <a:off x="0" y="708000"/>
          <a:ext cx="12192000" cy="6255070"/>
        </p:xfrm>
        <a:graphic>
          <a:graphicData uri="http://schemas.openxmlformats.org/drawingml/2006/table">
            <a:tbl>
              <a:tblPr firstRow="1" bandRow="1">
                <a:noFill/>
                <a:tableStyleId>{B0D3315C-5BBF-4F93-85FC-E1C3DE0A209C}</a:tableStyleId>
              </a:tblPr>
              <a:tblGrid>
                <a:gridCol w="302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0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287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8296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Advanced Heart Attack Risk Prediction Using Stacked Hybrid Machine Learning (2025)</a:t>
                      </a:r>
                      <a:endParaRPr lang="en-US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Rudraksh Singh </a:t>
                      </a:r>
                      <a:r>
                        <a:rPr lang="en-IN" sz="2000" dirty="0" err="1">
                          <a:latin typeface="Arial Narrow" panose="020B0606020202030204" pitchFamily="34" charset="0"/>
                          <a:cs typeface="Times New Roman"/>
                        </a:rPr>
                        <a:t>Bhaduaria</a:t>
                      </a: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Iqra Javid,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Anirban Khara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Multiple machine learning algorithms are combined to improve heart disease risk prediction.</a:t>
                      </a:r>
                      <a:endParaRPr lang="en-US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Random Forest, SVM, Logistic </a:t>
                      </a:r>
                      <a:r>
                        <a:rPr lang="en-IN" sz="2000" dirty="0" err="1">
                          <a:latin typeface="Arial Narrow" panose="020B0606020202030204" pitchFamily="34" charset="0"/>
                          <a:cs typeface="Times New Roman"/>
                        </a:rPr>
                        <a:t>Regression,KNN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9761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Cardiac Clarity: Harnessing Machine Learning for Accurate Heart Disease Prediction (2025)</a:t>
                      </a:r>
                      <a:endParaRPr lang="en-US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Sujith Santhosh,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 err="1">
                          <a:latin typeface="Arial Narrow" panose="020B0606020202030204" pitchFamily="34" charset="0"/>
                          <a:cs typeface="Times New Roman"/>
                        </a:rPr>
                        <a:t>Krishnaraj</a:t>
                      </a: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 </a:t>
                      </a:r>
                      <a:r>
                        <a:rPr lang="en-IN" sz="2000" dirty="0" err="1">
                          <a:latin typeface="Arial Narrow" panose="020B0606020202030204" pitchFamily="34" charset="0"/>
                          <a:cs typeface="Times New Roman"/>
                        </a:rPr>
                        <a:t>Chadaga</a:t>
                      </a: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R Vijaya Arjunan,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Sandra D'Souza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Explainable AI techniques are used to improve transparency in heart disease prediction.</a:t>
                      </a:r>
                      <a:endParaRPr lang="en-US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Random Forest, Logistic Regression, Decision Tree, </a:t>
                      </a:r>
                      <a:r>
                        <a:rPr lang="en-US" sz="2000" dirty="0" err="1">
                          <a:latin typeface="Arial Narrow" panose="020B0606020202030204" pitchFamily="34" charset="0"/>
                          <a:cs typeface="Times New Roman"/>
                        </a:rPr>
                        <a:t>XGBoost</a:t>
                      </a: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, SHAP</a:t>
                      </a:r>
                      <a:endParaRPr lang="en-US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91013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Heart Disease Classification From Echocardiogram Images Using Deep Learning (2025)</a:t>
                      </a:r>
                      <a:endParaRPr lang="en-US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Muhammad Raoof,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Muhammad Mahtab,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Sohail Masood Bhatti,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Muhammad Rashid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Deep learning models classify heart disease using echocardiogram medical images.</a:t>
                      </a:r>
                      <a:endParaRPr lang="en-US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CNN, VGG16, Deep Learning</a:t>
                      </a:r>
                      <a:endParaRPr lang="en-IN" sz="2000" dirty="0">
                        <a:latin typeface="Arial Narrow" panose="020B0606020202030204" pitchFamily="34" charset="0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976145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b="0" i="0" u="none" strike="noStrike" cap="none" spc="0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Times New Roman"/>
                          <a:cs typeface="Times New Roman"/>
                        </a:rPr>
                        <a:t>A Robust Heart Disease Prediction System Using Hybrid Deep Neural Networks (2023)</a:t>
                      </a:r>
                      <a:endParaRPr lang="en-US" sz="36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Mana Saleh Al </a:t>
                      </a:r>
                      <a:r>
                        <a:rPr lang="en-IN" sz="2000" dirty="0" err="1">
                          <a:latin typeface="Arial Narrow" panose="020B0606020202030204" pitchFamily="34" charset="0"/>
                          <a:cs typeface="Times New Roman"/>
                        </a:rPr>
                        <a:t>Reshan</a:t>
                      </a: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Samina Amin,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Muhammad Ali Zeb,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Adel Sulaiman,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Hybrid deep learning models are used to improve heart disease prediction accuracy.</a:t>
                      </a:r>
                      <a:endParaRPr lang="en-US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CNN, LSTM, Hybrid Deep Neural Network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">
          <a:extLst>
            <a:ext uri="{FF2B5EF4-FFF2-40B4-BE49-F238E27FC236}">
              <a16:creationId xmlns:a16="http://schemas.microsoft.com/office/drawing/2014/main" id="{8D0AABDF-5BD3-F2D2-830F-76CB14533F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17">
            <a:extLst>
              <a:ext uri="{FF2B5EF4-FFF2-40B4-BE49-F238E27FC236}">
                <a16:creationId xmlns:a16="http://schemas.microsoft.com/office/drawing/2014/main" id="{A6F1E46A-A292-9463-BF49-D38408352036}"/>
              </a:ext>
            </a:extLst>
          </p:cNvPr>
          <p:cNvSpPr/>
          <p:nvPr/>
        </p:nvSpPr>
        <p:spPr>
          <a:xfrm>
            <a:off x="8753993" y="62420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endParaRPr sz="1200" b="0" i="0" u="none" strike="noStrike" cap="none">
              <a:solidFill>
                <a:srgbClr val="888888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17">
            <a:extLst>
              <a:ext uri="{FF2B5EF4-FFF2-40B4-BE49-F238E27FC236}">
                <a16:creationId xmlns:a16="http://schemas.microsoft.com/office/drawing/2014/main" id="{AB431F72-22AF-7ABA-36EA-7175AE15773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0" name="Google Shape;120;p17">
            <a:extLst>
              <a:ext uri="{FF2B5EF4-FFF2-40B4-BE49-F238E27FC236}">
                <a16:creationId xmlns:a16="http://schemas.microsoft.com/office/drawing/2014/main" id="{0954A40B-0400-30E5-D2DF-F124ED67AC8E}"/>
              </a:ext>
            </a:extLst>
          </p:cNvPr>
          <p:cNvSpPr/>
          <p:nvPr/>
        </p:nvSpPr>
        <p:spPr>
          <a:xfrm>
            <a:off x="68855" y="0"/>
            <a:ext cx="120543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4000"/>
              <a:buFont typeface="Arial"/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LITERATURE SURVEY</a:t>
            </a:r>
            <a:endParaRPr sz="1400" b="0" i="0" u="none" strike="noStrike" cap="none">
              <a:solidFill>
                <a:srgbClr val="000000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graphicFrame>
        <p:nvGraphicFramePr>
          <p:cNvPr id="121" name="Google Shape;121;p17">
            <a:extLst>
              <a:ext uri="{FF2B5EF4-FFF2-40B4-BE49-F238E27FC236}">
                <a16:creationId xmlns:a16="http://schemas.microsoft.com/office/drawing/2014/main" id="{78A80039-A732-C6BE-44AE-8C7AF256B325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222874867"/>
              </p:ext>
            </p:extLst>
          </p:nvPr>
        </p:nvGraphicFramePr>
        <p:xfrm>
          <a:off x="0" y="708000"/>
          <a:ext cx="12192000" cy="6152155"/>
        </p:xfrm>
        <a:graphic>
          <a:graphicData uri="http://schemas.openxmlformats.org/drawingml/2006/table">
            <a:tbl>
              <a:tblPr firstRow="1" bandRow="1">
                <a:noFill/>
                <a:tableStyleId>{B0D3315C-5BBF-4F93-85FC-E1C3DE0A209C}</a:tableStyleId>
              </a:tblPr>
              <a:tblGrid>
                <a:gridCol w="30271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027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271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10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19826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TITLE OF PAPER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AUTHOR(S)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u="none" strike="noStrike" cap="none" dirty="0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PAPER GIST</a:t>
                      </a: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u="none" strike="noStrike" cap="none">
                          <a:solidFill>
                            <a:schemeClr val="dk1"/>
                          </a:solidFill>
                          <a:latin typeface="Arial Narrow" panose="020B0606020202030204" pitchFamily="34" charset="0"/>
                          <a:ea typeface="Arial Narrow"/>
                          <a:cs typeface="Arial Narrow"/>
                          <a:sym typeface="Arial Narrow"/>
                        </a:rPr>
                        <a:t>TECHNOLOGY USED</a:t>
                      </a:r>
                      <a:endParaRPr sz="2000" u="none" strike="noStrike" cap="none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990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Efficient Prediction Method for Coronary Heart Disease Risk Using Deep Neural Networks (2021)</a:t>
                      </a:r>
                      <a:endParaRPr lang="en-US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Tsatsral </a:t>
                      </a:r>
                      <a:r>
                        <a:rPr lang="en-IN" sz="2000" dirty="0" err="1">
                          <a:latin typeface="Arial Narrow" panose="020B0606020202030204" pitchFamily="34" charset="0"/>
                          <a:cs typeface="Times New Roman"/>
                        </a:rPr>
                        <a:t>Amarbayasgalan</a:t>
                      </a: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Van-Huy Pham,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Nipon </a:t>
                      </a:r>
                      <a:r>
                        <a:rPr lang="en-IN" sz="2000" dirty="0" err="1">
                          <a:latin typeface="Arial Narrow" panose="020B0606020202030204" pitchFamily="34" charset="0"/>
                          <a:cs typeface="Times New Roman"/>
                        </a:rPr>
                        <a:t>Theera-Umpon</a:t>
                      </a: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Yongjun Piao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Deep neural networks are used to improve heart disease prediction using optimized datasets.</a:t>
                      </a:r>
                      <a:endParaRPr lang="en-US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PCA, Variational Autoencoder, Deep Neural Networks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276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i="0" dirty="0">
                          <a:latin typeface="Arial Narrow" panose="020B0606020202030204" pitchFamily="34" charset="0"/>
                          <a:cs typeface="Times New Roman"/>
                        </a:rPr>
                        <a:t>Integrated Machine Learning Framework for Cardiovascular Disease Prediction (2021)</a:t>
                      </a:r>
                      <a:endParaRPr lang="en-US" sz="2000" i="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Aqsa Rahim,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Yawar Rasheed,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Farooque Azam,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Muhammad Waseem Anwar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Feature selection and data balancing techniques improve heart disease prediction accuracy.</a:t>
                      </a:r>
                      <a:endParaRPr lang="en-US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Logistic Regression, KNN, SMOTE, Feature Selection</a:t>
                      </a:r>
                      <a:endParaRPr lang="en-US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276078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Heart Disease Identification Method Using Machine Learning Classification in E-Healthcare (2020)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Jian Ping Li,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Amin Ul Haq,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Salah Ud Din,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Jalaluddin Khan</a:t>
                      </a: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ML classification models are used to detect heart disease with improved prediction accuracy.</a:t>
                      </a:r>
                      <a:endParaRPr lang="en-US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SVM, Logistic Regression, Decision Tree, KNN, Naïve Bayes</a:t>
                      </a: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800379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Interpretable Hybrid Multichannel Deep Learning Model for Heart Disease Classification Using 12-Lead ECG Signal </a:t>
                      </a:r>
                      <a:endParaRPr lang="en-US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Friedhelm Schwenker,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Bisrat </a:t>
                      </a:r>
                      <a:r>
                        <a:rPr lang="en-IN" sz="2000" dirty="0" err="1">
                          <a:latin typeface="Arial Narrow" panose="020B0606020202030204" pitchFamily="34" charset="0"/>
                          <a:cs typeface="Times New Roman"/>
                        </a:rPr>
                        <a:t>Derebssa</a:t>
                      </a: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 </a:t>
                      </a:r>
                      <a:r>
                        <a:rPr lang="en-IN" sz="2000" dirty="0" err="1">
                          <a:latin typeface="Arial Narrow" panose="020B0606020202030204" pitchFamily="34" charset="0"/>
                          <a:cs typeface="Times New Roman"/>
                        </a:rPr>
                        <a:t>Dufera</a:t>
                      </a: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,</a:t>
                      </a:r>
                      <a:b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</a:b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Taye Girma </a:t>
                      </a:r>
                      <a:r>
                        <a:rPr lang="en-IN" sz="2000" dirty="0" err="1">
                          <a:latin typeface="Arial Narrow" panose="020B0606020202030204" pitchFamily="34" charset="0"/>
                          <a:cs typeface="Times New Roman"/>
                        </a:rPr>
                        <a:t>Debelee</a:t>
                      </a:r>
                      <a:endParaRPr lang="en-IN" sz="2000" dirty="0">
                        <a:latin typeface="Arial Narrow" panose="020B0606020202030204" pitchFamily="34" charset="0"/>
                        <a:cs typeface="Times New Roman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US" sz="2000" dirty="0">
                          <a:latin typeface="Arial Narrow" panose="020B0606020202030204" pitchFamily="34" charset="0"/>
                          <a:cs typeface="Times New Roman"/>
                        </a:rPr>
                        <a:t>Deep learning models analyze ECG signals to classify heart disease with high accuracy.</a:t>
                      </a:r>
                      <a:endParaRPr lang="en-US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Times New Roman"/>
                      </a:endParaRPr>
                    </a:p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</a:pPr>
                      <a:endParaRPr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ea typeface="Arial Narrow"/>
                        <a:cs typeface="Arial Narrow"/>
                        <a:sym typeface="Arial Narrow"/>
                      </a:endParaRPr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400"/>
                        <a:buFont typeface="Arial"/>
                        <a:buNone/>
                        <a:tabLst/>
                        <a:defRPr/>
                      </a:pP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CNN, </a:t>
                      </a:r>
                      <a:r>
                        <a:rPr lang="en-IN" sz="2000" dirty="0" err="1">
                          <a:latin typeface="Arial Narrow" panose="020B0606020202030204" pitchFamily="34" charset="0"/>
                          <a:cs typeface="Times New Roman"/>
                        </a:rPr>
                        <a:t>BiLSTM</a:t>
                      </a:r>
                      <a:r>
                        <a:rPr lang="en-IN" sz="2000" dirty="0">
                          <a:latin typeface="Arial Narrow" panose="020B0606020202030204" pitchFamily="34" charset="0"/>
                          <a:cs typeface="Times New Roman"/>
                        </a:rPr>
                        <a:t>, Attention Mechanism, Explainable AI (SHAP, Grad-CAM)</a:t>
                      </a:r>
                      <a:endParaRPr lang="en-IN" sz="2000" u="none" strike="noStrike" cap="none" dirty="0">
                        <a:solidFill>
                          <a:schemeClr val="dk1"/>
                        </a:solidFill>
                        <a:latin typeface="Arial Narrow" panose="020B0606020202030204" pitchFamily="34" charset="0"/>
                        <a:cs typeface="Times New Roman"/>
                        <a:sym typeface="Arial Narrow"/>
                      </a:endParaRPr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3574101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1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7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27" name="Google Shape;127;p18"/>
          <p:cNvSpPr txBox="1"/>
          <p:nvPr/>
        </p:nvSpPr>
        <p:spPr>
          <a:xfrm>
            <a:off x="-1" y="0"/>
            <a:ext cx="12345600" cy="70784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EXISTING SYSTEM ARCHITECTURE</a:t>
            </a:r>
            <a:endParaRPr sz="4000" b="1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BF550105-76FF-96E3-2ADF-BE4F86F83EF3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33910" b="19011"/>
          <a:stretch/>
        </p:blipFill>
        <p:spPr bwMode="auto">
          <a:xfrm>
            <a:off x="952499" y="2325584"/>
            <a:ext cx="10287000" cy="3228603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1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8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33" name="Google Shape;133;p19"/>
          <p:cNvSpPr txBox="1"/>
          <p:nvPr/>
        </p:nvSpPr>
        <p:spPr>
          <a:xfrm>
            <a:off x="-1" y="0"/>
            <a:ext cx="123456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PROBLEM IDENTIFI</a:t>
            </a:r>
            <a:r>
              <a:rPr lang="en-US" sz="4000" b="1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ED</a:t>
            </a:r>
            <a:endParaRPr sz="4000" b="1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34" name="Google Shape;134;p19"/>
          <p:cNvSpPr txBox="1"/>
          <p:nvPr/>
        </p:nvSpPr>
        <p:spPr>
          <a:xfrm>
            <a:off x="740229" y="1034142"/>
            <a:ext cx="10787742" cy="35814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394023" indent="-394023" algn="just">
              <a:lnSpc>
                <a:spcPct val="150000"/>
              </a:lnSpc>
              <a:buAutoNum type="arabicPeriod"/>
              <a:defRPr/>
            </a:pPr>
            <a:r>
              <a:rPr lang="en-US" sz="2800" dirty="0">
                <a:latin typeface="Arial Narrow" panose="020B0606020202030204" pitchFamily="34" charset="0"/>
                <a:ea typeface="Times New Roman"/>
                <a:cs typeface="Times New Roman"/>
              </a:rPr>
              <a:t>Traditional healthcare systems mainly store patient records.</a:t>
            </a:r>
            <a:endParaRPr lang="en-US" sz="2800" dirty="0">
              <a:latin typeface="Arial Narrow" panose="020B0606020202030204" pitchFamily="34" charset="0"/>
            </a:endParaRPr>
          </a:p>
          <a:p>
            <a:pPr marL="394023" indent="-394023" algn="just">
              <a:lnSpc>
                <a:spcPct val="150000"/>
              </a:lnSpc>
              <a:buAutoNum type="arabicPeriod"/>
              <a:defRPr/>
            </a:pPr>
            <a:r>
              <a:rPr lang="en-US" sz="2800" dirty="0">
                <a:latin typeface="Arial Narrow" panose="020B0606020202030204" pitchFamily="34" charset="0"/>
                <a:ea typeface="Times New Roman"/>
                <a:cs typeface="Times New Roman"/>
              </a:rPr>
              <a:t>ECG analysis is mostly performed manually by doctors.</a:t>
            </a:r>
            <a:endParaRPr lang="en-US" sz="2800" dirty="0">
              <a:latin typeface="Arial Narrow" panose="020B0606020202030204" pitchFamily="34" charset="0"/>
            </a:endParaRPr>
          </a:p>
          <a:p>
            <a:pPr marL="394023" indent="-394023" algn="just">
              <a:lnSpc>
                <a:spcPct val="150000"/>
              </a:lnSpc>
              <a:buAutoNum type="arabicPeriod"/>
              <a:defRPr/>
            </a:pPr>
            <a:r>
              <a:rPr lang="en-US" sz="2800" dirty="0">
                <a:latin typeface="Arial Narrow" panose="020B0606020202030204" pitchFamily="34" charset="0"/>
                <a:ea typeface="Times New Roman"/>
                <a:cs typeface="Times New Roman"/>
              </a:rPr>
              <a:t>Lack of automated analysis for clinical and ECG data.</a:t>
            </a:r>
            <a:endParaRPr lang="en-US" sz="2800" dirty="0">
              <a:latin typeface="Arial Narrow" panose="020B0606020202030204" pitchFamily="34" charset="0"/>
            </a:endParaRPr>
          </a:p>
          <a:p>
            <a:pPr marL="394023" indent="-394023" algn="just">
              <a:lnSpc>
                <a:spcPct val="150000"/>
              </a:lnSpc>
              <a:buAutoNum type="arabicPeriod"/>
              <a:defRPr/>
            </a:pPr>
            <a:r>
              <a:rPr lang="en-US" sz="2800" dirty="0">
                <a:latin typeface="Arial Narrow" panose="020B0606020202030204" pitchFamily="34" charset="0"/>
                <a:ea typeface="Times New Roman"/>
                <a:cs typeface="Times New Roman"/>
              </a:rPr>
              <a:t>Advanced ML models like </a:t>
            </a:r>
            <a:r>
              <a:rPr lang="en-US" sz="2800" dirty="0" err="1">
                <a:latin typeface="Arial Narrow" panose="020B0606020202030204" pitchFamily="34" charset="0"/>
                <a:ea typeface="Times New Roman"/>
                <a:cs typeface="Times New Roman"/>
              </a:rPr>
              <a:t>XGBoost</a:t>
            </a:r>
            <a:r>
              <a:rPr lang="en-US" sz="2800" dirty="0">
                <a:latin typeface="Arial Narrow" panose="020B0606020202030204" pitchFamily="34" charset="0"/>
                <a:ea typeface="Times New Roman"/>
                <a:cs typeface="Times New Roman"/>
              </a:rPr>
              <a:t> and CNN are rarely used.</a:t>
            </a:r>
            <a:endParaRPr lang="en-US" sz="2800" dirty="0">
              <a:latin typeface="Arial Narrow" panose="020B0606020202030204" pitchFamily="34" charset="0"/>
            </a:endParaRPr>
          </a:p>
          <a:p>
            <a:pPr marL="394023" lvl="0" indent="-394023" algn="just">
              <a:lnSpc>
                <a:spcPct val="90000"/>
              </a:lnSpc>
              <a:spcBef>
                <a:spcPts val="1000"/>
              </a:spcBef>
              <a:buClr>
                <a:schemeClr val="dk1"/>
              </a:buClr>
              <a:buSzPts val="2800"/>
              <a:buFont typeface="Arial"/>
              <a:buAutoNum type="arabicPeriod"/>
              <a:defRPr/>
            </a:pPr>
            <a:r>
              <a:rPr lang="en-US" sz="2800" dirty="0">
                <a:latin typeface="Arial Narrow" panose="020B0606020202030204" pitchFamily="34" charset="0"/>
                <a:ea typeface="Times New Roman"/>
                <a:cs typeface="Times New Roman"/>
              </a:rPr>
              <a:t>Limited use of explainable AI reduces prediction transparency.</a:t>
            </a:r>
            <a:endParaRPr lang="en-US" sz="2800" dirty="0">
              <a:latin typeface="Arial Narrow" panose="020B0606020202030204" pitchFamily="34" charset="0"/>
            </a:endParaRPr>
          </a:p>
          <a:p>
            <a:pPr marL="342900" marR="0" lvl="0" indent="-34290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+mj-lt"/>
              <a:buAutoNum type="arabicPeriod"/>
            </a:pPr>
            <a:endParaRPr sz="2800" dirty="0">
              <a:latin typeface="Arial Narrow" panose="020B060602020203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0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9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40" name="Google Shape;140;p20"/>
          <p:cNvSpPr txBox="1"/>
          <p:nvPr/>
        </p:nvSpPr>
        <p:spPr>
          <a:xfrm>
            <a:off x="-1" y="0"/>
            <a:ext cx="12192000" cy="708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000" b="1" i="0" u="none" strike="noStrike" cap="none">
                <a:solidFill>
                  <a:schemeClr val="dk1"/>
                </a:solidFill>
                <a:latin typeface="Arial Narrow"/>
                <a:ea typeface="Arial Narrow"/>
                <a:cs typeface="Arial Narrow"/>
                <a:sym typeface="Arial Narrow"/>
              </a:rPr>
              <a:t>PROPOSED SYSTEM ARCHITECTURE</a:t>
            </a:r>
            <a:endParaRPr sz="4000" b="1" i="0" u="none" strike="noStrike" cap="none">
              <a:solidFill>
                <a:schemeClr val="dk1"/>
              </a:solidFill>
              <a:latin typeface="Arial Narrow"/>
              <a:ea typeface="Arial Narrow"/>
              <a:cs typeface="Arial Narrow"/>
              <a:sym typeface="Arial Narrow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3745E47D-182F-1C20-6DF1-5389205E5F6C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11724" b="14593"/>
          <a:stretch>
            <a:fillRect/>
          </a:stretch>
        </p:blipFill>
        <p:spPr bwMode="auto">
          <a:xfrm>
            <a:off x="1479590" y="1388533"/>
            <a:ext cx="9232818" cy="453532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21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823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SOFTWARE AND HARDWARE REQUIREMENTS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46" name="Google Shape;146;p21"/>
          <p:cNvSpPr txBox="1">
            <a:spLocks noGrp="1"/>
          </p:cNvSpPr>
          <p:nvPr>
            <p:ph type="body" idx="2"/>
          </p:nvPr>
        </p:nvSpPr>
        <p:spPr>
          <a:xfrm>
            <a:off x="164338" y="1989037"/>
            <a:ext cx="51579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HARDWARE</a:t>
            </a:r>
          </a:p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Processor : Intel Core i5 or higher</a:t>
            </a: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Hard Disk : 256 GB SSD or higher </a:t>
            </a: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Network : Internet Connection</a:t>
            </a: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Monitor : Standard Display Monitor </a:t>
            </a: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US" dirty="0">
                <a:latin typeface="Arial Narrow" panose="020B0606020202030204" pitchFamily="34" charset="0"/>
              </a:rPr>
              <a:t>Input Devices : Keyboard and Mouse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47" name="Google Shape;147;p21"/>
          <p:cNvSpPr txBox="1">
            <a:spLocks noGrp="1"/>
          </p:cNvSpPr>
          <p:nvPr>
            <p:ph type="body" idx="4"/>
          </p:nvPr>
        </p:nvSpPr>
        <p:spPr>
          <a:xfrm>
            <a:off x="6946498" y="1989037"/>
            <a:ext cx="5183100" cy="3684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lang="en-US" b="1" dirty="0">
                <a:latin typeface="Arial Narrow" panose="020B0606020202030204" pitchFamily="34" charset="0"/>
                <a:ea typeface="Arial Narrow"/>
                <a:cs typeface="Arial Narrow"/>
                <a:sym typeface="Arial Narrow"/>
              </a:rPr>
              <a:t>SOFTWARE</a:t>
            </a:r>
            <a:endParaRPr b="1"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</a:rPr>
              <a:t>Programming Language : Python</a:t>
            </a: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</a:rPr>
              <a:t>Backend Framework : Flask </a:t>
            </a: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</a:rPr>
              <a:t>Database : SQLite </a:t>
            </a: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</a:rPr>
              <a:t>Report Generation : </a:t>
            </a:r>
            <a:r>
              <a:rPr lang="en-IN" dirty="0" err="1">
                <a:latin typeface="Arial Narrow" panose="020B0606020202030204" pitchFamily="34" charset="0"/>
              </a:rPr>
              <a:t>ReportLab</a:t>
            </a:r>
            <a:r>
              <a:rPr lang="en-IN" dirty="0">
                <a:latin typeface="Arial Narrow" panose="020B0606020202030204" pitchFamily="34" charset="0"/>
              </a:rPr>
              <a:t> </a:t>
            </a: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</a:rPr>
              <a:t>Frontend : HTML5, CSS3, JavaScript</a:t>
            </a:r>
          </a:p>
          <a:p>
            <a:pPr marL="514350" lvl="0" indent="-514350">
              <a:spcBef>
                <a:spcPts val="0"/>
              </a:spcBef>
              <a:buClr>
                <a:schemeClr val="tx1"/>
              </a:buClr>
              <a:buSzPts val="2800"/>
              <a:buFont typeface="+mj-lt"/>
              <a:buAutoNum type="arabicPeriod"/>
            </a:pPr>
            <a:r>
              <a:rPr lang="en-IN" dirty="0">
                <a:latin typeface="Arial Narrow" panose="020B0606020202030204" pitchFamily="34" charset="0"/>
              </a:rPr>
              <a:t>Supporting Libraries : NumPy, </a:t>
            </a:r>
            <a:r>
              <a:rPr lang="en-IN" dirty="0" err="1">
                <a:latin typeface="Arial Narrow" panose="020B0606020202030204" pitchFamily="34" charset="0"/>
              </a:rPr>
              <a:t>Torchvision</a:t>
            </a:r>
            <a:r>
              <a:rPr lang="en-IN" dirty="0">
                <a:latin typeface="Arial Narrow" panose="020B0606020202030204" pitchFamily="34" charset="0"/>
              </a:rPr>
              <a:t>, Scikit-learn</a:t>
            </a: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48" name="Google Shape;148;p21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10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22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61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MODULES </a:t>
            </a:r>
            <a:endParaRPr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54" name="Google Shape;154;p22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94023" lvl="0" indent="-394023" algn="just">
              <a:spcBef>
                <a:spcPts val="0"/>
              </a:spcBef>
              <a:buClr>
                <a:schemeClr val="tx1"/>
              </a:buClr>
              <a:buSzPts val="2800"/>
              <a:buFont typeface="Arial"/>
              <a:buAutoNum type="arabicPeriod"/>
              <a:defRPr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</a:rPr>
              <a:t>Admin Module</a:t>
            </a:r>
            <a:endParaRPr lang="en-US" dirty="0">
              <a:latin typeface="Arial Narrow" panose="020B0606020202030204" pitchFamily="34" charset="0"/>
              <a:cs typeface="Times New Roman"/>
            </a:endParaRPr>
          </a:p>
          <a:p>
            <a:pPr marL="394023" lvl="0" indent="-394023" algn="just">
              <a:spcBef>
                <a:spcPts val="999"/>
              </a:spcBef>
              <a:buClr>
                <a:schemeClr val="tx1"/>
              </a:buClr>
              <a:buSzPts val="2800"/>
              <a:buFont typeface="Arial"/>
              <a:buAutoNum type="arabicPeriod"/>
              <a:defRPr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</a:rPr>
              <a:t>User Module</a:t>
            </a:r>
            <a:endParaRPr lang="en-US" dirty="0">
              <a:latin typeface="Arial Narrow" panose="020B0606020202030204" pitchFamily="34" charset="0"/>
              <a:cs typeface="Times New Roman"/>
            </a:endParaRPr>
          </a:p>
          <a:p>
            <a:pPr marL="394023" lvl="0" indent="-394023" algn="just">
              <a:spcBef>
                <a:spcPts val="999"/>
              </a:spcBef>
              <a:buClr>
                <a:schemeClr val="tx1"/>
              </a:buClr>
              <a:buSzPts val="2800"/>
              <a:buFont typeface="Arial"/>
              <a:buAutoNum type="arabicPeriod"/>
              <a:defRPr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</a:rPr>
              <a:t>Heart Disease Prediction Module</a:t>
            </a:r>
            <a:endParaRPr lang="en-US" dirty="0">
              <a:latin typeface="Arial Narrow" panose="020B0606020202030204" pitchFamily="34" charset="0"/>
              <a:cs typeface="Times New Roman"/>
            </a:endParaRPr>
          </a:p>
          <a:p>
            <a:pPr marL="394023" lvl="0" indent="-394023" algn="just">
              <a:spcBef>
                <a:spcPts val="999"/>
              </a:spcBef>
              <a:buClr>
                <a:schemeClr val="tx1"/>
              </a:buClr>
              <a:buSzPts val="2800"/>
              <a:buFont typeface="Arial"/>
              <a:buAutoNum type="arabicPeriod"/>
              <a:defRPr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</a:rPr>
              <a:t>Image Classification Module</a:t>
            </a:r>
            <a:endParaRPr lang="en-US" dirty="0">
              <a:latin typeface="Arial Narrow" panose="020B0606020202030204" pitchFamily="34" charset="0"/>
              <a:cs typeface="Times New Roman"/>
            </a:endParaRPr>
          </a:p>
          <a:p>
            <a:pPr marL="394023" lvl="0" indent="-394023" algn="just">
              <a:buClr>
                <a:schemeClr val="tx1"/>
              </a:buClr>
              <a:buSzPts val="2800"/>
              <a:buFont typeface="Arial"/>
              <a:buAutoNum type="arabicPeriod"/>
              <a:defRPr/>
            </a:pPr>
            <a:r>
              <a:rPr lang="en-US" dirty="0">
                <a:latin typeface="Arial Narrow" panose="020B0606020202030204" pitchFamily="34" charset="0"/>
                <a:ea typeface="Times New Roman"/>
                <a:cs typeface="Times New Roman"/>
              </a:rPr>
              <a:t>Report Generation and Visualization Module</a:t>
            </a:r>
            <a:endParaRPr lang="en-US" dirty="0">
              <a:latin typeface="Arial Narrow" panose="020B0606020202030204" pitchFamily="34" charset="0"/>
              <a:ea typeface="Arial Narrow"/>
              <a:cs typeface="Arial Narrow"/>
            </a:endParaRPr>
          </a:p>
          <a:p>
            <a:pPr marL="514350" lvl="0" indent="-514350">
              <a:buClr>
                <a:schemeClr val="tx1"/>
              </a:buClr>
              <a:buSzPts val="2800"/>
              <a:buFont typeface="+mj-lt"/>
              <a:buAutoNum type="arabicPeriod"/>
              <a:defRPr/>
            </a:pPr>
            <a:endParaRPr lang="en-US" dirty="0">
              <a:latin typeface="Arial Narrow" panose="020B0606020202030204" pitchFamily="34" charset="0"/>
              <a:ea typeface="Arial Narrow"/>
              <a:cs typeface="Arial Narrow"/>
            </a:endParaRPr>
          </a:p>
          <a:p>
            <a:pPr marL="514350" lvl="0" indent="-51435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+mj-lt"/>
              <a:buAutoNum type="arabicPeriod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55" name="Google Shape;155;p22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11</a:t>
            </a:fld>
            <a:endParaRPr b="1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23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MODULE-1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61" name="Google Shape;161;p23"/>
          <p:cNvSpPr txBox="1">
            <a:spLocks noGrp="1"/>
          </p:cNvSpPr>
          <p:nvPr>
            <p:ph type="body" idx="1"/>
          </p:nvPr>
        </p:nvSpPr>
        <p:spPr>
          <a:xfrm>
            <a:off x="838200" y="1103725"/>
            <a:ext cx="5682124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83008" indent="-383008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Manages the overall system operations and settings.</a:t>
            </a:r>
            <a:endParaRPr lang="en-US" dirty="0">
              <a:latin typeface="Arial Narrow" panose="020B0606020202030204" pitchFamily="34" charset="0"/>
            </a:endParaRPr>
          </a:p>
          <a:p>
            <a:pPr marL="383008" indent="-383008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Maintains and updates the medical datasets used for training.</a:t>
            </a:r>
            <a:endParaRPr lang="en-US" dirty="0">
              <a:latin typeface="Arial Narrow" panose="020B0606020202030204" pitchFamily="34" charset="0"/>
            </a:endParaRPr>
          </a:p>
          <a:p>
            <a:pPr marL="383008" indent="-383008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Monitors system performance and model functionality.</a:t>
            </a:r>
            <a:endParaRPr lang="en-US" dirty="0">
              <a:latin typeface="Arial Narrow" panose="020B0606020202030204" pitchFamily="34" charset="0"/>
            </a:endParaRPr>
          </a:p>
          <a:p>
            <a:pPr marL="383008" indent="-383008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Ensures smooth working of prediction and classification modules.</a:t>
            </a:r>
            <a:endParaRPr lang="en-US" dirty="0">
              <a:latin typeface="Arial Narrow" panose="020B0606020202030204" pitchFamily="34" charset="0"/>
            </a:endParaRPr>
          </a:p>
          <a:p>
            <a:pPr marL="514350" lvl="0" indent="-514350" algn="just">
              <a:buClr>
                <a:schemeClr val="tx1"/>
              </a:buClr>
              <a:buSzPts val="2800"/>
              <a:buFont typeface="+mj-lt"/>
              <a:buAutoNum type="arabicPeriod"/>
              <a:defRPr/>
            </a:pPr>
            <a:endParaRPr lang="en-US" dirty="0">
              <a:latin typeface="Arial Narrow" panose="020B0606020202030204" pitchFamily="34" charset="0"/>
              <a:ea typeface="Arial Narrow"/>
              <a:cs typeface="Arial Narrow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+mj-lt"/>
              <a:buAutoNum type="arabicPeriod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62" name="Google Shape;162;p23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12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63" name="Google Shape;163;p23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3C32AA1A-ADD8-0A58-7DAB-7D4440451E52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t="9930" b="13950"/>
          <a:stretch/>
        </p:blipFill>
        <p:spPr bwMode="auto">
          <a:xfrm>
            <a:off x="6520324" y="964869"/>
            <a:ext cx="5593991" cy="4818779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24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MODULE-2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71" name="Google Shape;171;p24"/>
          <p:cNvSpPr txBox="1">
            <a:spLocks noGrp="1"/>
          </p:cNvSpPr>
          <p:nvPr>
            <p:ph type="body" idx="1"/>
          </p:nvPr>
        </p:nvSpPr>
        <p:spPr>
          <a:xfrm>
            <a:off x="838200" y="1103725"/>
            <a:ext cx="6163733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lvl="0" indent="-514350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Allows users to access the system through a simple interface.</a:t>
            </a:r>
            <a:endParaRPr lang="en-US" dirty="0">
              <a:latin typeface="Arial Narrow" panose="020B0606020202030204" pitchFamily="34" charset="0"/>
            </a:endParaRPr>
          </a:p>
          <a:p>
            <a:pPr marL="514350" lvl="0" indent="-514350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Enables users to enter health-related parameters for prediction.</a:t>
            </a:r>
            <a:endParaRPr lang="en-US" dirty="0">
              <a:latin typeface="Arial Narrow" panose="020B0606020202030204" pitchFamily="34" charset="0"/>
            </a:endParaRPr>
          </a:p>
          <a:p>
            <a:pPr marL="514350" lvl="0" indent="-514350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Provides option to upload medical images for analysis.</a:t>
            </a:r>
            <a:endParaRPr lang="en-US" dirty="0">
              <a:latin typeface="Arial Narrow" panose="020B0606020202030204" pitchFamily="34" charset="0"/>
            </a:endParaRPr>
          </a:p>
          <a:p>
            <a:pPr marL="514350" lvl="0" indent="-514350" algn="just">
              <a:buClr>
                <a:schemeClr val="tx1"/>
              </a:buClr>
              <a:buSzPts val="2800"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Displays prediction results, visualizations, and reports.</a:t>
            </a:r>
            <a:endParaRPr lang="en-US" dirty="0">
              <a:latin typeface="Arial Narrow" panose="020B0606020202030204" pitchFamily="34" charset="0"/>
              <a:ea typeface="Arial Narrow"/>
              <a:cs typeface="Arial Narrow"/>
            </a:endParaRPr>
          </a:p>
          <a:p>
            <a:pPr marL="514350" lvl="0" indent="-514350" algn="just">
              <a:buClr>
                <a:schemeClr val="tx1"/>
              </a:buClr>
              <a:buSzPts val="2800"/>
              <a:buFont typeface="+mj-lt"/>
              <a:buAutoNum type="arabicPeriod"/>
              <a:defRPr/>
            </a:pPr>
            <a:endParaRPr lang="en-US" dirty="0">
              <a:latin typeface="Arial Narrow" panose="020B0606020202030204" pitchFamily="34" charset="0"/>
              <a:ea typeface="Arial Narrow"/>
              <a:cs typeface="Arial Narrow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+mj-lt"/>
              <a:buAutoNum type="arabicPeriod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72" name="Google Shape;172;p24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13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73" name="Google Shape;173;p24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4B01D363-DD1B-A0DE-80EB-EFB24C583218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2083" t="9930" r="2081" b="7313"/>
          <a:stretch/>
        </p:blipFill>
        <p:spPr bwMode="auto">
          <a:xfrm>
            <a:off x="7101720" y="789264"/>
            <a:ext cx="4879986" cy="478966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5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MODULE-3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81" name="Google Shape;181;p25"/>
          <p:cNvSpPr txBox="1">
            <a:spLocks noGrp="1"/>
          </p:cNvSpPr>
          <p:nvPr>
            <p:ph type="body" idx="1"/>
          </p:nvPr>
        </p:nvSpPr>
        <p:spPr>
          <a:xfrm>
            <a:off x="838200" y="1103725"/>
            <a:ext cx="5477933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514350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Accepts patient health parameters as input.</a:t>
            </a:r>
            <a:endParaRPr lang="en-US" dirty="0">
              <a:latin typeface="Arial Narrow" panose="020B0606020202030204" pitchFamily="34" charset="0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Uses the trained </a:t>
            </a:r>
            <a:r>
              <a:rPr lang="en-US" dirty="0" err="1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XGBoost</a:t>
            </a: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 model to analyze the data.</a:t>
            </a:r>
            <a:endParaRPr lang="en-US" dirty="0">
              <a:latin typeface="Arial Narrow" panose="020B0606020202030204" pitchFamily="34" charset="0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Predicts whether the condition is normal or abnormal.</a:t>
            </a:r>
            <a:endParaRPr lang="en-US" dirty="0">
              <a:latin typeface="Arial Narrow" panose="020B0606020202030204" pitchFamily="34" charset="0"/>
            </a:endParaRPr>
          </a:p>
          <a:p>
            <a:pPr marL="514350" lvl="0" indent="-514350" algn="just">
              <a:buClr>
                <a:schemeClr val="tx1"/>
              </a:buClr>
              <a:buSzPts val="2800"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Provides explanation for predictions using Explainable AI.</a:t>
            </a:r>
            <a:endParaRPr lang="en-US" dirty="0">
              <a:latin typeface="Arial Narrow" panose="020B0606020202030204" pitchFamily="34" charset="0"/>
              <a:ea typeface="Arial Narrow"/>
              <a:cs typeface="Arial Narrow"/>
            </a:endParaRPr>
          </a:p>
          <a:p>
            <a:pPr marL="514350" lvl="0" indent="-514350" algn="just">
              <a:buClr>
                <a:schemeClr val="tx1"/>
              </a:buClr>
              <a:buSzPts val="2800"/>
              <a:buFont typeface="+mj-lt"/>
              <a:buAutoNum type="arabicPeriod"/>
              <a:defRPr/>
            </a:pPr>
            <a:endParaRPr lang="en-US" dirty="0">
              <a:latin typeface="Arial Narrow" panose="020B0606020202030204" pitchFamily="34" charset="0"/>
              <a:ea typeface="Arial Narrow"/>
              <a:cs typeface="Arial Narrow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+mj-lt"/>
              <a:buAutoNum type="arabicPeriod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82" name="Google Shape;182;p25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14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83" name="Google Shape;183;p25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2329E1B9-99AE-00F6-846B-CB1B6B0FBF9A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7361" t="9930" r="11882" b="6420"/>
          <a:stretch/>
        </p:blipFill>
        <p:spPr bwMode="auto">
          <a:xfrm>
            <a:off x="6384471" y="681035"/>
            <a:ext cx="5723466" cy="4841457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Google Shape;190;p26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MODULE-4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191" name="Google Shape;191;p26"/>
          <p:cNvSpPr txBox="1">
            <a:spLocks noGrp="1"/>
          </p:cNvSpPr>
          <p:nvPr>
            <p:ph type="body" idx="1"/>
          </p:nvPr>
        </p:nvSpPr>
        <p:spPr>
          <a:xfrm>
            <a:off x="838200" y="1103725"/>
            <a:ext cx="5257127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514350" indent="-514350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Allows users to upload medical images for analysis.</a:t>
            </a:r>
            <a:endParaRPr lang="en-US" dirty="0">
              <a:latin typeface="Arial Narrow" panose="020B0606020202030204" pitchFamily="34" charset="0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Processes images using image processing techniques.</a:t>
            </a:r>
            <a:endParaRPr lang="en-US" dirty="0">
              <a:latin typeface="Arial Narrow" panose="020B0606020202030204" pitchFamily="34" charset="0"/>
            </a:endParaRPr>
          </a:p>
          <a:p>
            <a:pPr marL="514350" indent="-514350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Applies machine learning model for classification.</a:t>
            </a:r>
            <a:endParaRPr lang="en-US" dirty="0">
              <a:latin typeface="Arial Narrow" panose="020B0606020202030204" pitchFamily="34" charset="0"/>
            </a:endParaRPr>
          </a:p>
          <a:p>
            <a:pPr marL="514350" lvl="0" indent="-514350" algn="just">
              <a:buClr>
                <a:schemeClr val="tx1"/>
              </a:buClr>
              <a:buSzPts val="2800"/>
              <a:buFont typeface="+mj-lt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Displays result as normal or abnormal condition.</a:t>
            </a:r>
            <a:endParaRPr lang="en-US" dirty="0">
              <a:latin typeface="Arial Narrow" panose="020B0606020202030204" pitchFamily="34" charset="0"/>
              <a:ea typeface="Arial Narrow"/>
              <a:cs typeface="Arial Narrow"/>
            </a:endParaRPr>
          </a:p>
          <a:p>
            <a:pPr marL="514350" lvl="0" indent="-514350" algn="just">
              <a:buClr>
                <a:schemeClr val="tx1"/>
              </a:buClr>
              <a:buSzPts val="2800"/>
              <a:buFont typeface="+mj-lt"/>
              <a:buAutoNum type="arabicPeriod"/>
              <a:defRPr/>
            </a:pPr>
            <a:endParaRPr lang="en-US" dirty="0">
              <a:latin typeface="Arial Narrow" panose="020B0606020202030204" pitchFamily="34" charset="0"/>
              <a:ea typeface="Arial Narrow"/>
              <a:cs typeface="Arial Narrow"/>
            </a:endParaRPr>
          </a:p>
          <a:p>
            <a:pPr marL="514350" lvl="0" indent="-51435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ts val="2800"/>
              <a:buFont typeface="+mj-lt"/>
              <a:buAutoNum type="arabicPeriod"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192" name="Google Shape;192;p26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15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193" name="Google Shape;193;p26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A9C10F30-6B9A-3021-114A-0FF00A52C5F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8981" t="8259" r="20448" b="7313"/>
          <a:stretch/>
        </p:blipFill>
        <p:spPr bwMode="auto">
          <a:xfrm>
            <a:off x="6096674" y="566399"/>
            <a:ext cx="5739725" cy="5000158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7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192000" cy="56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 fontScale="90000"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ct val="1000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MODULE-5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01" name="Google Shape;201;p27"/>
          <p:cNvSpPr txBox="1">
            <a:spLocks noGrp="1"/>
          </p:cNvSpPr>
          <p:nvPr>
            <p:ph type="body" idx="1"/>
          </p:nvPr>
        </p:nvSpPr>
        <p:spPr>
          <a:xfrm>
            <a:off x="838200" y="1103725"/>
            <a:ext cx="5233015" cy="4351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94023" indent="-394023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Generates graphical representation of prediction results.</a:t>
            </a:r>
            <a:endParaRPr lang="en-US" dirty="0">
              <a:latin typeface="Arial Narrow" panose="020B0606020202030204" pitchFamily="34" charset="0"/>
            </a:endParaRPr>
          </a:p>
          <a:p>
            <a:pPr marL="394023" indent="-394023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Displays charts and graphs for better understanding.</a:t>
            </a:r>
            <a:endParaRPr lang="en-US" dirty="0">
              <a:latin typeface="Arial Narrow" panose="020B0606020202030204" pitchFamily="34" charset="0"/>
            </a:endParaRPr>
          </a:p>
          <a:p>
            <a:pPr marL="394023" indent="-394023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Creates detailed reports based on system analysis.</a:t>
            </a:r>
            <a:endParaRPr lang="en-US" dirty="0">
              <a:latin typeface="Arial Narrow" panose="020B0606020202030204" pitchFamily="34" charset="0"/>
            </a:endParaRPr>
          </a:p>
          <a:p>
            <a:pPr marL="394023" lvl="0" indent="-394023" algn="just">
              <a:buClr>
                <a:schemeClr val="tx1"/>
              </a:buClr>
              <a:buSzPts val="2800"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Allows users to download reports for future reference.</a:t>
            </a:r>
            <a:endParaRPr lang="en-US" dirty="0">
              <a:latin typeface="Arial Narrow" panose="020B0606020202030204" pitchFamily="34" charset="0"/>
              <a:ea typeface="Arial Narrow"/>
              <a:cs typeface="Arial Narrow"/>
            </a:endParaRPr>
          </a:p>
          <a:p>
            <a:pPr marL="0" lvl="0" indent="0" algn="just" rtl="0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tx1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202" name="Google Shape;202;p27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 b="1">
                <a:solidFill>
                  <a:schemeClr val="dk1"/>
                </a:solidFill>
              </a:rPr>
              <a:t>16</a:t>
            </a:fld>
            <a:endParaRPr b="1">
              <a:solidFill>
                <a:schemeClr val="dk1"/>
              </a:solidFill>
            </a:endParaRPr>
          </a:p>
        </p:txBody>
      </p:sp>
      <p:sp>
        <p:nvSpPr>
          <p:cNvPr id="203" name="Google Shape;203;p27"/>
          <p:cNvSpPr/>
          <p:nvPr/>
        </p:nvSpPr>
        <p:spPr>
          <a:xfrm>
            <a:off x="5943600" y="3276600"/>
            <a:ext cx="304800" cy="30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Picture 3">
            <a:extLst>
              <a:ext uri="{FF2B5EF4-FFF2-40B4-BE49-F238E27FC236}">
                <a16:creationId xmlns:a16="http://schemas.microsoft.com/office/drawing/2014/main" id="{C211BC65-BF7F-6C6E-6908-0A3B05F4C44E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15123" t="8259" r="16358" b="8272"/>
          <a:stretch/>
        </p:blipFill>
        <p:spPr bwMode="auto">
          <a:xfrm>
            <a:off x="6071215" y="667470"/>
            <a:ext cx="6044583" cy="4602204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8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Times New Roman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CONCLUSION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1" name="Google Shape;211;p28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94023" indent="-394023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The system successfully predicts heart disease risk using machine learning techniques by analyzing patient health parameters and providing accurate results.</a:t>
            </a:r>
            <a:endParaRPr lang="en-US" dirty="0">
              <a:latin typeface="Arial Narrow" panose="020B0606020202030204" pitchFamily="34" charset="0"/>
            </a:endParaRPr>
          </a:p>
          <a:p>
            <a:pPr marL="394023" indent="-394023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The integration of Explainable Artificial Intelligence helps users understand the factors influencing the prediction, improving transparency and reliability.</a:t>
            </a:r>
            <a:endParaRPr lang="en-US" dirty="0">
              <a:latin typeface="Arial Narrow" panose="020B0606020202030204" pitchFamily="34" charset="0"/>
            </a:endParaRPr>
          </a:p>
          <a:p>
            <a:pPr marL="394023" lvl="0" indent="-394023" algn="just">
              <a:buClr>
                <a:schemeClr val="tx1"/>
              </a:buClr>
              <a:buSzPts val="2800"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The developed system supports early detection of heart disease and can assist healthcare professionals in better monitoring and decision-making.</a:t>
            </a:r>
            <a:endParaRPr lang="en-US" dirty="0">
              <a:latin typeface="Arial Narrow" panose="020B0606020202030204" pitchFamily="34" charset="0"/>
              <a:ea typeface="Arial Narrow"/>
              <a:cs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212" name="Google Shape;212;p28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17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29"/>
          <p:cNvSpPr txBox="1">
            <a:spLocks noGrp="1"/>
          </p:cNvSpPr>
          <p:nvPr>
            <p:ph type="title"/>
          </p:nvPr>
        </p:nvSpPr>
        <p:spPr>
          <a:xfrm>
            <a:off x="0" y="0"/>
            <a:ext cx="12066900" cy="897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rmAutofit/>
          </a:bodyPr>
          <a:lstStyle/>
          <a:p>
            <a:pPr marL="0" lvl="0" indent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4400"/>
              <a:buNone/>
            </a:pPr>
            <a:r>
              <a:rPr lang="en-US" b="1">
                <a:latin typeface="Arial Narrow"/>
                <a:ea typeface="Arial Narrow"/>
                <a:cs typeface="Arial Narrow"/>
                <a:sym typeface="Arial Narrow"/>
              </a:rPr>
              <a:t>FUTURE ENHANCEMENTS </a:t>
            </a:r>
            <a:endParaRPr b="1">
              <a:latin typeface="Arial Narrow"/>
              <a:ea typeface="Arial Narrow"/>
              <a:cs typeface="Arial Narrow"/>
              <a:sym typeface="Arial Narrow"/>
            </a:endParaRPr>
          </a:p>
        </p:txBody>
      </p:sp>
      <p:sp>
        <p:nvSpPr>
          <p:cNvPr id="218" name="Google Shape;218;p29"/>
          <p:cNvSpPr txBox="1"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rmAutofit/>
          </a:bodyPr>
          <a:lstStyle/>
          <a:p>
            <a:pPr marL="394023" indent="-394023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Integrate larger and more diverse medical datasets to improve prediction accuracy and system reliability.</a:t>
            </a:r>
            <a:endParaRPr lang="en-US" dirty="0">
              <a:latin typeface="Arial Narrow" panose="020B0606020202030204" pitchFamily="34" charset="0"/>
            </a:endParaRPr>
          </a:p>
          <a:p>
            <a:pPr marL="394023" indent="-394023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Implement advanced deep learning models such as CNN for more accurate medical image classification.</a:t>
            </a:r>
            <a:endParaRPr lang="en-US" dirty="0">
              <a:latin typeface="Arial Narrow" panose="020B0606020202030204" pitchFamily="34" charset="0"/>
            </a:endParaRPr>
          </a:p>
          <a:p>
            <a:pPr marL="394023" indent="-394023" algn="just">
              <a:lnSpc>
                <a:spcPct val="100000"/>
              </a:lnSpc>
              <a:spcBef>
                <a:spcPts val="0"/>
              </a:spcBef>
              <a:buClr>
                <a:schemeClr val="tx1"/>
              </a:buClr>
              <a:buSzTx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Develop a mobile application version to allow users to access the system easily from smartphones.</a:t>
            </a:r>
            <a:endParaRPr lang="en-US" dirty="0">
              <a:latin typeface="Arial Narrow" panose="020B0606020202030204" pitchFamily="34" charset="0"/>
            </a:endParaRPr>
          </a:p>
          <a:p>
            <a:pPr marL="394023" lvl="0" indent="-394023" algn="just">
              <a:buClr>
                <a:schemeClr val="tx1"/>
              </a:buClr>
              <a:buSzPts val="2800"/>
              <a:buFont typeface="Arial"/>
              <a:buAutoNum type="arabicPeriod"/>
              <a:defRPr/>
            </a:pPr>
            <a:r>
              <a:rPr lang="en-US" dirty="0">
                <a:solidFill>
                  <a:schemeClr val="tx1"/>
                </a:solidFill>
                <a:latin typeface="Arial Narrow" panose="020B0606020202030204" pitchFamily="34" charset="0"/>
                <a:ea typeface="Times New Roman"/>
                <a:cs typeface="Times New Roman"/>
              </a:rPr>
              <a:t>Integrate real-time health monitoring devices to automatically collect patient health data for continuous analysis.</a:t>
            </a:r>
            <a:endParaRPr lang="en-US" dirty="0">
              <a:latin typeface="Arial Narrow" panose="020B0606020202030204" pitchFamily="34" charset="0"/>
              <a:ea typeface="Arial Narrow"/>
              <a:cs typeface="Arial Narrow"/>
            </a:endParaRPr>
          </a:p>
          <a:p>
            <a:pPr marL="0" lvl="0" indent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tx1"/>
              </a:buClr>
              <a:buSzPts val="2800"/>
              <a:buNone/>
            </a:pPr>
            <a:endParaRPr dirty="0">
              <a:latin typeface="Arial Narrow" panose="020B0606020202030204" pitchFamily="34" charset="0"/>
              <a:ea typeface="Arial Narrow"/>
              <a:cs typeface="Arial Narrow"/>
              <a:sym typeface="Arial Narrow"/>
            </a:endParaRPr>
          </a:p>
        </p:txBody>
      </p:sp>
      <p:sp>
        <p:nvSpPr>
          <p:cNvPr id="219" name="Google Shape;219;p29"/>
          <p:cNvSpPr txBox="1">
            <a:spLocks noGrp="1"/>
          </p:cNvSpPr>
          <p:nvPr>
            <p:ph type="sldNum" idx="1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</a:pPr>
            <a:fld id="{00000000-1234-1234-1234-123412341234}" type="slidenum">
              <a:rPr lang="en-US">
                <a:solidFill>
                  <a:schemeClr val="dk1"/>
                </a:solidFill>
              </a:rPr>
              <a:t>18</a:t>
            </a:fld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42</TotalTime>
  <Words>1069</Words>
  <Application>Microsoft Office PowerPoint</Application>
  <PresentationFormat>Widescreen</PresentationFormat>
  <Paragraphs>153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3" baseType="lpstr">
      <vt:lpstr>Calibri</vt:lpstr>
      <vt:lpstr>Arial Narrow</vt:lpstr>
      <vt:lpstr>Arial</vt:lpstr>
      <vt:lpstr>Times New Roman</vt:lpstr>
      <vt:lpstr>Office Theme</vt:lpstr>
      <vt:lpstr>PowerPoint Presentation</vt:lpstr>
      <vt:lpstr>PowerPoint Presentation</vt:lpstr>
      <vt:lpstr>OBJECTIVE OF THE PROJECT</vt:lpstr>
      <vt:lpstr>INTRODUCTION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SOFTWARE AND HARDWARE REQUIREMENTS </vt:lpstr>
      <vt:lpstr>MODULES </vt:lpstr>
      <vt:lpstr>MODULE-1</vt:lpstr>
      <vt:lpstr>MODULE-2</vt:lpstr>
      <vt:lpstr>MODULE-3</vt:lpstr>
      <vt:lpstr>MODULE-4</vt:lpstr>
      <vt:lpstr>MODULE-5</vt:lpstr>
      <vt:lpstr>CONCLUSION</vt:lpstr>
      <vt:lpstr>FUTURE ENHANCEMENTS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seralathan s</dc:creator>
  <cp:lastModifiedBy>seralathan s</cp:lastModifiedBy>
  <cp:revision>2</cp:revision>
  <dcterms:modified xsi:type="dcterms:W3CDTF">2026-03-29T10:28:37Z</dcterms:modified>
</cp:coreProperties>
</file>